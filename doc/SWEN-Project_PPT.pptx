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7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6" y="-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1CB8437-7634-4E65-A71F-5A743E9AA88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49083B8-9903-447D-9DB7-A9A6DA0A1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287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8437-7634-4E65-A71F-5A743E9AA88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083B8-9903-447D-9DB7-A9A6DA0A1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29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8437-7634-4E65-A71F-5A743E9AA88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083B8-9903-447D-9DB7-A9A6DA0A1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97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8437-7634-4E65-A71F-5A743E9AA88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083B8-9903-447D-9DB7-A9A6DA0A1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279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8437-7634-4E65-A71F-5A743E9AA88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083B8-9903-447D-9DB7-A9A6DA0A1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32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8437-7634-4E65-A71F-5A743E9AA88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083B8-9903-447D-9DB7-A9A6DA0A1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95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8437-7634-4E65-A71F-5A743E9AA88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083B8-9903-447D-9DB7-A9A6DA0A1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049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8437-7634-4E65-A71F-5A743E9AA88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083B8-9903-447D-9DB7-A9A6DA0A1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493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8437-7634-4E65-A71F-5A743E9AA88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083B8-9903-447D-9DB7-A9A6DA0A1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976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8437-7634-4E65-A71F-5A743E9AA88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083B8-9903-447D-9DB7-A9A6DA0A1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19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8437-7634-4E65-A71F-5A743E9AA88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083B8-9903-447D-9DB7-A9A6DA0A1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9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8437-7634-4E65-A71F-5A743E9AA88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083B8-9903-447D-9DB7-A9A6DA0A1B27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293547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8437-7634-4E65-A71F-5A743E9AA88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083B8-9903-447D-9DB7-A9A6DA0A1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049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8437-7634-4E65-A71F-5A743E9AA88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083B8-9903-447D-9DB7-A9A6DA0A1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3479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8437-7634-4E65-A71F-5A743E9AA88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083B8-9903-447D-9DB7-A9A6DA0A1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0311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8437-7634-4E65-A71F-5A743E9AA88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083B8-9903-447D-9DB7-A9A6DA0A1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52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8437-7634-4E65-A71F-5A743E9AA88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083B8-9903-447D-9DB7-A9A6DA0A1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897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B8437-7634-4E65-A71F-5A743E9AA88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9083B8-9903-447D-9DB7-A9A6DA0A1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497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268" y="840509"/>
            <a:ext cx="10363805" cy="397163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ffectLst/>
              </a:rPr>
              <a:t>SWEN 383 - Software Design Principles and </a:t>
            </a:r>
            <a:r>
              <a:rPr lang="en-US" b="1" dirty="0" smtClean="0">
                <a:effectLst/>
              </a:rPr>
              <a:t>Patterns</a:t>
            </a:r>
            <a:br>
              <a:rPr lang="en-US" b="1" dirty="0" smtClean="0">
                <a:effectLst/>
              </a:rPr>
            </a:br>
            <a:r>
              <a:rPr lang="en-US" sz="2700" b="1" dirty="0" smtClean="0">
                <a:effectLst/>
              </a:rPr>
              <a:t>Project</a:t>
            </a:r>
            <a:r>
              <a:rPr lang="en-US" sz="2700" b="1" dirty="0"/>
              <a:t>: Wellness </a:t>
            </a:r>
            <a:r>
              <a:rPr lang="en-US" sz="2700" b="1" dirty="0" smtClean="0"/>
              <a:t>Manager</a:t>
            </a:r>
            <a:br>
              <a:rPr lang="en-US" sz="2700" b="1" dirty="0" smtClean="0"/>
            </a:br>
            <a:r>
              <a:rPr lang="en-US" sz="2700" b="1" dirty="0" smtClean="0"/>
              <a:t>Phase 1</a:t>
            </a:r>
            <a:r>
              <a:rPr lang="en-US" sz="2700" b="1" dirty="0" smtClean="0">
                <a:effectLst/>
              </a:rPr>
              <a:t/>
            </a:r>
            <a:br>
              <a:rPr lang="en-US" sz="2700" b="1" dirty="0" smtClean="0">
                <a:effectLst/>
              </a:rPr>
            </a:br>
            <a:r>
              <a:rPr lang="en-US" sz="2700" b="1" dirty="0" smtClean="0">
                <a:effectLst/>
              </a:rPr>
              <a:t/>
            </a:r>
            <a:br>
              <a:rPr lang="en-US" sz="2700" b="1" dirty="0" smtClean="0">
                <a:effectLst/>
              </a:rPr>
            </a:br>
            <a:r>
              <a:rPr lang="en-US" sz="2700" b="1" dirty="0" smtClean="0">
                <a:effectLst/>
              </a:rPr>
              <a:t>Team members:</a:t>
            </a:r>
            <a:br>
              <a:rPr lang="en-US" sz="2700" b="1" dirty="0" smtClean="0">
                <a:effectLst/>
              </a:rPr>
            </a:br>
            <a:r>
              <a:rPr lang="en-US" sz="2700" b="1" dirty="0" smtClean="0">
                <a:effectLst/>
              </a:rPr>
              <a:t> Ivaylo Tassev, Marko </a:t>
            </a:r>
            <a:r>
              <a:rPr lang="en-US" sz="2700" b="1" dirty="0" err="1" smtClean="0">
                <a:effectLst/>
              </a:rPr>
              <a:t>Krznar</a:t>
            </a:r>
            <a:r>
              <a:rPr lang="en-US" sz="2700" b="1" dirty="0">
                <a:effectLst/>
              </a:rPr>
              <a:t>, </a:t>
            </a:r>
            <a:r>
              <a:rPr lang="en-US" sz="2700" b="1" dirty="0" smtClean="0">
                <a:effectLst/>
              </a:rPr>
              <a:t>Adrian Cervantes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1180181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9856" y="267855"/>
            <a:ext cx="9371198" cy="1067577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9755" y="4642058"/>
            <a:ext cx="5756542" cy="1684999"/>
          </a:xfrm>
        </p:spPr>
        <p:txBody>
          <a:bodyPr>
            <a:noAutofit/>
          </a:bodyPr>
          <a:lstStyle/>
          <a:p>
            <a:pPr algn="ctr"/>
            <a:r>
              <a:rPr lang="en-US" sz="1800" cap="none" dirty="0"/>
              <a:t>Desktop wellness app to log daily food intake, track calories vs. a personal limit, and see macronutrient breakdowns (fat/carb/protein %).</a:t>
            </a:r>
            <a:endParaRPr lang="en-US" sz="1800" cap="none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8480" y="1680564"/>
            <a:ext cx="4174980" cy="2616362"/>
          </a:xfrm>
          <a:prstGeom prst="rect">
            <a:avLst/>
          </a:prstGeom>
        </p:spPr>
      </p:pic>
      <p:sp>
        <p:nvSpPr>
          <p:cNvPr id="8" name="Subtitle 2"/>
          <p:cNvSpPr txBox="1">
            <a:spLocks/>
          </p:cNvSpPr>
          <p:nvPr/>
        </p:nvSpPr>
        <p:spPr>
          <a:xfrm>
            <a:off x="1652402" y="3809222"/>
            <a:ext cx="3991018" cy="1237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 smtClean="0">
              <a:latin typeface="Arial Black" panose="020B0A04020102020204" pitchFamily="34" charset="0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2039622" y="2019249"/>
            <a:ext cx="399353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What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is our </a:t>
            </a:r>
            <a:r>
              <a:rPr lang="en-US" altLang="en-US" sz="2000" dirty="0" smtClean="0"/>
              <a:t>app doing: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Track daily food intake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Manage foods and recipes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Calculate calories and macros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Monitor daily limits </a:t>
            </a:r>
          </a:p>
        </p:txBody>
      </p:sp>
    </p:spTree>
    <p:extLst>
      <p:ext uri="{BB962C8B-B14F-4D97-AF65-F5344CB8AC3E}">
        <p14:creationId xmlns:p14="http://schemas.microsoft.com/office/powerpoint/2010/main" val="928031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Technology used and MVC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build our app </a:t>
            </a:r>
            <a:r>
              <a:rPr lang="en-US" dirty="0" smtClean="0"/>
              <a:t>with </a:t>
            </a:r>
            <a:r>
              <a:rPr lang="en-US" dirty="0"/>
              <a:t>JavaFX for rich GUI components — </a:t>
            </a:r>
            <a:r>
              <a:rPr lang="en-US" dirty="0" err="1"/>
              <a:t>TableView</a:t>
            </a:r>
            <a:r>
              <a:rPr lang="en-US" dirty="0"/>
              <a:t>, Dialogs, and FXML-style event handling.</a:t>
            </a:r>
          </a:p>
          <a:p>
            <a:r>
              <a:rPr lang="en-US" dirty="0"/>
              <a:t>MVC - Model-View-Controller </a:t>
            </a:r>
            <a:r>
              <a:rPr lang="en-US" dirty="0" smtClean="0"/>
              <a:t>+ Composite, Factory design </a:t>
            </a:r>
            <a:r>
              <a:rPr lang="en-US" dirty="0"/>
              <a:t>pattern for a clean, extensible architecture</a:t>
            </a:r>
            <a:r>
              <a:rPr lang="en-US" dirty="0" smtClean="0"/>
              <a:t>.</a:t>
            </a:r>
          </a:p>
          <a:p>
            <a:r>
              <a:rPr lang="en-US" dirty="0"/>
              <a:t>How is our data </a:t>
            </a:r>
            <a:r>
              <a:rPr lang="en-US" dirty="0" smtClean="0"/>
              <a:t>stored: </a:t>
            </a:r>
            <a:r>
              <a:rPr lang="en-US" dirty="0"/>
              <a:t>Persistent storage via CSV files — food data and daily logs are saved and reloaded between sessions.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087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MVC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hape 2"/>
          <p:cNvSpPr/>
          <p:nvPr/>
        </p:nvSpPr>
        <p:spPr>
          <a:xfrm>
            <a:off x="1604913" y="2097088"/>
            <a:ext cx="2743200" cy="4069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3"/>
          <p:cNvSpPr/>
          <p:nvPr/>
        </p:nvSpPr>
        <p:spPr>
          <a:xfrm>
            <a:off x="1604913" y="2097088"/>
            <a:ext cx="274320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4"/>
          <p:cNvSpPr/>
          <p:nvPr/>
        </p:nvSpPr>
        <p:spPr>
          <a:xfrm>
            <a:off x="1696353" y="211537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3400" dirty="0"/>
          </a:p>
        </p:txBody>
      </p:sp>
      <p:sp>
        <p:nvSpPr>
          <p:cNvPr id="23" name="Text 5"/>
          <p:cNvSpPr/>
          <p:nvPr/>
        </p:nvSpPr>
        <p:spPr>
          <a:xfrm>
            <a:off x="2244993" y="220681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– business logic </a:t>
            </a:r>
            <a:endParaRPr lang="en-US" sz="1700" dirty="0"/>
          </a:p>
        </p:txBody>
      </p:sp>
      <p:sp>
        <p:nvSpPr>
          <p:cNvPr id="24" name="Shape 6"/>
          <p:cNvSpPr/>
          <p:nvPr/>
        </p:nvSpPr>
        <p:spPr>
          <a:xfrm>
            <a:off x="1714641" y="2892616"/>
            <a:ext cx="64008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7"/>
          <p:cNvSpPr/>
          <p:nvPr/>
        </p:nvSpPr>
        <p:spPr>
          <a:xfrm>
            <a:off x="1860945" y="284689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FoodComponent (interface</a:t>
            </a:r>
            <a:r>
              <a:rPr lang="en-US" sz="1100" dirty="0" smtClean="0">
                <a:solidFill>
                  <a:srgbClr val="1E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26" name="Shape 8"/>
          <p:cNvSpPr/>
          <p:nvPr/>
        </p:nvSpPr>
        <p:spPr>
          <a:xfrm>
            <a:off x="1714641" y="3377248"/>
            <a:ext cx="64008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9"/>
          <p:cNvSpPr/>
          <p:nvPr/>
        </p:nvSpPr>
        <p:spPr>
          <a:xfrm>
            <a:off x="1860945" y="333152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BasicFood</a:t>
            </a:r>
            <a:endParaRPr lang="en-US" sz="1100" dirty="0"/>
          </a:p>
        </p:txBody>
      </p:sp>
      <p:sp>
        <p:nvSpPr>
          <p:cNvPr id="28" name="Shape 10"/>
          <p:cNvSpPr/>
          <p:nvPr/>
        </p:nvSpPr>
        <p:spPr>
          <a:xfrm>
            <a:off x="1714641" y="3861880"/>
            <a:ext cx="64008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11"/>
          <p:cNvSpPr/>
          <p:nvPr/>
        </p:nvSpPr>
        <p:spPr>
          <a:xfrm>
            <a:off x="1860945" y="381616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</a:t>
            </a:r>
            <a:endParaRPr lang="en-US" sz="1100" dirty="0"/>
          </a:p>
        </p:txBody>
      </p:sp>
      <p:sp>
        <p:nvSpPr>
          <p:cNvPr id="30" name="Shape 12"/>
          <p:cNvSpPr/>
          <p:nvPr/>
        </p:nvSpPr>
        <p:spPr>
          <a:xfrm>
            <a:off x="1714641" y="4346512"/>
            <a:ext cx="64008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13"/>
          <p:cNvSpPr/>
          <p:nvPr/>
        </p:nvSpPr>
        <p:spPr>
          <a:xfrm>
            <a:off x="1860945" y="430079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FoodCollection (</a:t>
            </a:r>
            <a:r>
              <a:rPr lang="en-US" sz="1100" dirty="0" err="1">
                <a:solidFill>
                  <a:srgbClr val="1E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LinkedHashMap</a:t>
            </a:r>
            <a:r>
              <a:rPr lang="en-US" sz="1100" dirty="0" smtClean="0">
                <a:solidFill>
                  <a:srgbClr val="1E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– store foods</a:t>
            </a:r>
            <a:endParaRPr lang="en-US" sz="1100" dirty="0"/>
          </a:p>
        </p:txBody>
      </p:sp>
      <p:sp>
        <p:nvSpPr>
          <p:cNvPr id="32" name="Shape 14"/>
          <p:cNvSpPr/>
          <p:nvPr/>
        </p:nvSpPr>
        <p:spPr>
          <a:xfrm>
            <a:off x="1714641" y="4831144"/>
            <a:ext cx="64008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15"/>
          <p:cNvSpPr/>
          <p:nvPr/>
        </p:nvSpPr>
        <p:spPr>
          <a:xfrm>
            <a:off x="1860945" y="4785424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DailyLog / LogEntry</a:t>
            </a:r>
            <a:endParaRPr lang="en-US" sz="1100" dirty="0"/>
          </a:p>
        </p:txBody>
      </p:sp>
      <p:sp>
        <p:nvSpPr>
          <p:cNvPr id="34" name="Shape 16"/>
          <p:cNvSpPr/>
          <p:nvPr/>
        </p:nvSpPr>
        <p:spPr>
          <a:xfrm>
            <a:off x="1714641" y="5315776"/>
            <a:ext cx="64008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17"/>
          <p:cNvSpPr/>
          <p:nvPr/>
        </p:nvSpPr>
        <p:spPr>
          <a:xfrm>
            <a:off x="1860945" y="527005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persistence logic</a:t>
            </a:r>
            <a:endParaRPr lang="en-US" sz="1100" dirty="0"/>
          </a:p>
        </p:txBody>
      </p:sp>
      <p:sp>
        <p:nvSpPr>
          <p:cNvPr id="36" name="Shape 18"/>
          <p:cNvSpPr/>
          <p:nvPr/>
        </p:nvSpPr>
        <p:spPr>
          <a:xfrm>
            <a:off x="4530993" y="2097088"/>
            <a:ext cx="2743200" cy="4069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19"/>
          <p:cNvSpPr/>
          <p:nvPr/>
        </p:nvSpPr>
        <p:spPr>
          <a:xfrm>
            <a:off x="4530993" y="2097088"/>
            <a:ext cx="2743200" cy="685800"/>
          </a:xfrm>
          <a:prstGeom prst="rect">
            <a:avLst/>
          </a:prstGeom>
          <a:solidFill>
            <a:srgbClr val="2C7A50"/>
          </a:solidFill>
          <a:ln/>
        </p:spPr>
      </p:sp>
      <p:sp>
        <p:nvSpPr>
          <p:cNvPr id="38" name="Text 20"/>
          <p:cNvSpPr/>
          <p:nvPr/>
        </p:nvSpPr>
        <p:spPr>
          <a:xfrm>
            <a:off x="4622433" y="211537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3400" dirty="0"/>
          </a:p>
        </p:txBody>
      </p:sp>
      <p:sp>
        <p:nvSpPr>
          <p:cNvPr id="39" name="Text 21"/>
          <p:cNvSpPr/>
          <p:nvPr/>
        </p:nvSpPr>
        <p:spPr>
          <a:xfrm>
            <a:off x="5171073" y="220681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 what the user see</a:t>
            </a:r>
            <a:endParaRPr lang="en-US" sz="1700" dirty="0"/>
          </a:p>
        </p:txBody>
      </p:sp>
      <p:sp>
        <p:nvSpPr>
          <p:cNvPr id="40" name="Shape 22"/>
          <p:cNvSpPr/>
          <p:nvPr/>
        </p:nvSpPr>
        <p:spPr>
          <a:xfrm>
            <a:off x="4640721" y="2892616"/>
            <a:ext cx="64008" cy="64008"/>
          </a:xfrm>
          <a:prstGeom prst="rect">
            <a:avLst/>
          </a:prstGeom>
          <a:solidFill>
            <a:srgbClr val="2C7A50"/>
          </a:solidFill>
          <a:ln/>
        </p:spPr>
      </p:sp>
      <p:sp>
        <p:nvSpPr>
          <p:cNvPr id="41" name="Text 23"/>
          <p:cNvSpPr/>
          <p:nvPr/>
        </p:nvSpPr>
        <p:spPr>
          <a:xfrm>
            <a:off x="4704729" y="289261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1E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</a:t>
            </a:r>
            <a:r>
              <a:rPr lang="en-US" sz="1100" dirty="0">
                <a:solidFill>
                  <a:srgbClr val="1E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TableView</a:t>
            </a:r>
            <a:endParaRPr lang="en-US" sz="1100" dirty="0"/>
          </a:p>
        </p:txBody>
      </p:sp>
      <p:sp>
        <p:nvSpPr>
          <p:cNvPr id="42" name="Shape 24"/>
          <p:cNvSpPr/>
          <p:nvPr/>
        </p:nvSpPr>
        <p:spPr>
          <a:xfrm>
            <a:off x="4640721" y="3377248"/>
            <a:ext cx="64008" cy="64008"/>
          </a:xfrm>
          <a:prstGeom prst="rect">
            <a:avLst/>
          </a:prstGeom>
          <a:solidFill>
            <a:srgbClr val="2C7A50"/>
          </a:solidFill>
          <a:ln/>
        </p:spPr>
      </p:sp>
      <p:sp>
        <p:nvSpPr>
          <p:cNvPr id="43" name="Text 25"/>
          <p:cNvSpPr/>
          <p:nvPr/>
        </p:nvSpPr>
        <p:spPr>
          <a:xfrm>
            <a:off x="4787025" y="333152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Management Panel</a:t>
            </a:r>
            <a:endParaRPr lang="en-US" sz="1100" dirty="0"/>
          </a:p>
        </p:txBody>
      </p:sp>
      <p:sp>
        <p:nvSpPr>
          <p:cNvPr id="44" name="Shape 26"/>
          <p:cNvSpPr/>
          <p:nvPr/>
        </p:nvSpPr>
        <p:spPr>
          <a:xfrm>
            <a:off x="4640721" y="3861880"/>
            <a:ext cx="64008" cy="64008"/>
          </a:xfrm>
          <a:prstGeom prst="rect">
            <a:avLst/>
          </a:prstGeom>
          <a:solidFill>
            <a:srgbClr val="2C7A50"/>
          </a:solidFill>
          <a:ln/>
        </p:spPr>
      </p:sp>
      <p:sp>
        <p:nvSpPr>
          <p:cNvPr id="45" name="Text 27"/>
          <p:cNvSpPr/>
          <p:nvPr/>
        </p:nvSpPr>
        <p:spPr>
          <a:xfrm>
            <a:off x="4787025" y="381616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Log Panel</a:t>
            </a:r>
            <a:endParaRPr lang="en-US" sz="1100" dirty="0"/>
          </a:p>
        </p:txBody>
      </p:sp>
      <p:sp>
        <p:nvSpPr>
          <p:cNvPr id="46" name="Shape 28"/>
          <p:cNvSpPr/>
          <p:nvPr/>
        </p:nvSpPr>
        <p:spPr>
          <a:xfrm>
            <a:off x="4640721" y="4346512"/>
            <a:ext cx="64008" cy="64008"/>
          </a:xfrm>
          <a:prstGeom prst="rect">
            <a:avLst/>
          </a:prstGeom>
          <a:solidFill>
            <a:srgbClr val="2C7A50"/>
          </a:solidFill>
          <a:ln/>
        </p:spPr>
      </p:sp>
      <p:sp>
        <p:nvSpPr>
          <p:cNvPr id="47" name="Text 29"/>
          <p:cNvSpPr/>
          <p:nvPr/>
        </p:nvSpPr>
        <p:spPr>
          <a:xfrm>
            <a:off x="4787025" y="430079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Add/Edit Dialogs</a:t>
            </a:r>
            <a:endParaRPr lang="en-US" sz="1100" dirty="0"/>
          </a:p>
        </p:txBody>
      </p:sp>
      <p:sp>
        <p:nvSpPr>
          <p:cNvPr id="48" name="Shape 30"/>
          <p:cNvSpPr/>
          <p:nvPr/>
        </p:nvSpPr>
        <p:spPr>
          <a:xfrm>
            <a:off x="4640721" y="4831144"/>
            <a:ext cx="64008" cy="64008"/>
          </a:xfrm>
          <a:prstGeom prst="rect">
            <a:avLst/>
          </a:prstGeom>
          <a:solidFill>
            <a:srgbClr val="2C7A50"/>
          </a:solidFill>
          <a:ln/>
        </p:spPr>
      </p:sp>
      <p:sp>
        <p:nvSpPr>
          <p:cNvPr id="49" name="Text 31"/>
          <p:cNvSpPr/>
          <p:nvPr/>
        </p:nvSpPr>
        <p:spPr>
          <a:xfrm>
            <a:off x="4787025" y="4785424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Macronutrient display</a:t>
            </a:r>
            <a:endParaRPr lang="en-US" sz="1100" dirty="0"/>
          </a:p>
        </p:txBody>
      </p:sp>
      <p:sp>
        <p:nvSpPr>
          <p:cNvPr id="50" name="Shape 32"/>
          <p:cNvSpPr/>
          <p:nvPr/>
        </p:nvSpPr>
        <p:spPr>
          <a:xfrm>
            <a:off x="4640721" y="5315776"/>
            <a:ext cx="64008" cy="64008"/>
          </a:xfrm>
          <a:prstGeom prst="rect">
            <a:avLst/>
          </a:prstGeom>
          <a:solidFill>
            <a:srgbClr val="2C7A50"/>
          </a:solidFill>
          <a:ln/>
        </p:spPr>
      </p:sp>
      <p:sp>
        <p:nvSpPr>
          <p:cNvPr id="51" name="Text 33"/>
          <p:cNvSpPr/>
          <p:nvPr/>
        </p:nvSpPr>
        <p:spPr>
          <a:xfrm>
            <a:off x="4787025" y="527005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application window</a:t>
            </a:r>
            <a:endParaRPr lang="en-US" sz="1100" dirty="0"/>
          </a:p>
        </p:txBody>
      </p:sp>
      <p:sp>
        <p:nvSpPr>
          <p:cNvPr id="52" name="Shape 34"/>
          <p:cNvSpPr/>
          <p:nvPr/>
        </p:nvSpPr>
        <p:spPr>
          <a:xfrm>
            <a:off x="7457073" y="2097088"/>
            <a:ext cx="2743200" cy="4069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35"/>
          <p:cNvSpPr/>
          <p:nvPr/>
        </p:nvSpPr>
        <p:spPr>
          <a:xfrm>
            <a:off x="7457073" y="2097088"/>
            <a:ext cx="2743200" cy="6858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4" name="Text 36"/>
          <p:cNvSpPr/>
          <p:nvPr/>
        </p:nvSpPr>
        <p:spPr>
          <a:xfrm>
            <a:off x="7548513" y="211537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400" dirty="0"/>
          </a:p>
        </p:txBody>
      </p:sp>
      <p:sp>
        <p:nvSpPr>
          <p:cNvPr id="55" name="Text 37"/>
          <p:cNvSpPr/>
          <p:nvPr/>
        </p:nvSpPr>
        <p:spPr>
          <a:xfrm>
            <a:off x="8097153" y="220681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Controller-bridge between two</a:t>
            </a:r>
            <a:endParaRPr lang="en-US" sz="1700" dirty="0"/>
          </a:p>
        </p:txBody>
      </p:sp>
      <p:sp>
        <p:nvSpPr>
          <p:cNvPr id="56" name="Shape 38"/>
          <p:cNvSpPr/>
          <p:nvPr/>
        </p:nvSpPr>
        <p:spPr>
          <a:xfrm>
            <a:off x="7566801" y="2892616"/>
            <a:ext cx="64008" cy="640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7" name="Text 39"/>
          <p:cNvSpPr/>
          <p:nvPr/>
        </p:nvSpPr>
        <p:spPr>
          <a:xfrm>
            <a:off x="7713105" y="284689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FoodController</a:t>
            </a:r>
            <a:endParaRPr lang="en-US" sz="1100" dirty="0"/>
          </a:p>
        </p:txBody>
      </p:sp>
      <p:sp>
        <p:nvSpPr>
          <p:cNvPr id="58" name="Shape 40"/>
          <p:cNvSpPr/>
          <p:nvPr/>
        </p:nvSpPr>
        <p:spPr>
          <a:xfrm>
            <a:off x="7566801" y="3377248"/>
            <a:ext cx="64008" cy="640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9" name="Text 41"/>
          <p:cNvSpPr/>
          <p:nvPr/>
        </p:nvSpPr>
        <p:spPr>
          <a:xfrm>
            <a:off x="7713105" y="333152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DailyLogController</a:t>
            </a:r>
            <a:endParaRPr lang="en-US" sz="1100" dirty="0"/>
          </a:p>
        </p:txBody>
      </p:sp>
      <p:sp>
        <p:nvSpPr>
          <p:cNvPr id="60" name="Shape 42"/>
          <p:cNvSpPr/>
          <p:nvPr/>
        </p:nvSpPr>
        <p:spPr>
          <a:xfrm>
            <a:off x="7566801" y="3861880"/>
            <a:ext cx="64008" cy="640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1" name="Text 43"/>
          <p:cNvSpPr/>
          <p:nvPr/>
        </p:nvSpPr>
        <p:spPr>
          <a:xfrm>
            <a:off x="7713105" y="381616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user events</a:t>
            </a:r>
            <a:endParaRPr lang="en-US" sz="1100" dirty="0"/>
          </a:p>
        </p:txBody>
      </p:sp>
      <p:sp>
        <p:nvSpPr>
          <p:cNvPr id="62" name="Shape 44"/>
          <p:cNvSpPr/>
          <p:nvPr/>
        </p:nvSpPr>
        <p:spPr>
          <a:xfrm>
            <a:off x="7566801" y="4346512"/>
            <a:ext cx="64008" cy="640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3" name="Text 45"/>
          <p:cNvSpPr/>
          <p:nvPr/>
        </p:nvSpPr>
        <p:spPr>
          <a:xfrm>
            <a:off x="7713105" y="430079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Model &amp; View</a:t>
            </a:r>
            <a:endParaRPr lang="en-US" sz="1100" dirty="0"/>
          </a:p>
        </p:txBody>
      </p:sp>
      <p:sp>
        <p:nvSpPr>
          <p:cNvPr id="64" name="Shape 46"/>
          <p:cNvSpPr/>
          <p:nvPr/>
        </p:nvSpPr>
        <p:spPr>
          <a:xfrm>
            <a:off x="7566801" y="4831144"/>
            <a:ext cx="64008" cy="640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5" name="Text 47"/>
          <p:cNvSpPr/>
          <p:nvPr/>
        </p:nvSpPr>
        <p:spPr>
          <a:xfrm>
            <a:off x="7713105" y="4785424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logic</a:t>
            </a:r>
            <a:endParaRPr lang="en-US" sz="1100" dirty="0"/>
          </a:p>
        </p:txBody>
      </p:sp>
      <p:sp>
        <p:nvSpPr>
          <p:cNvPr id="66" name="Shape 48"/>
          <p:cNvSpPr/>
          <p:nvPr/>
        </p:nvSpPr>
        <p:spPr>
          <a:xfrm>
            <a:off x="7566801" y="5315776"/>
            <a:ext cx="64008" cy="640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7" name="Text 49"/>
          <p:cNvSpPr/>
          <p:nvPr/>
        </p:nvSpPr>
        <p:spPr>
          <a:xfrm>
            <a:off x="7713105" y="527005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load/save calls</a:t>
            </a:r>
            <a:endParaRPr lang="en-US" sz="1100" dirty="0"/>
          </a:p>
        </p:txBody>
      </p:sp>
      <p:sp>
        <p:nvSpPr>
          <p:cNvPr id="68" name="Text 50"/>
          <p:cNvSpPr/>
          <p:nvPr/>
        </p:nvSpPr>
        <p:spPr>
          <a:xfrm>
            <a:off x="4375545" y="378872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AA6A"/>
                </a:solidFill>
              </a:rPr>
              <a:t>→</a:t>
            </a:r>
            <a:endParaRPr lang="en-US" sz="2200" dirty="0"/>
          </a:p>
        </p:txBody>
      </p:sp>
      <p:sp>
        <p:nvSpPr>
          <p:cNvPr id="69" name="Text 51"/>
          <p:cNvSpPr/>
          <p:nvPr/>
        </p:nvSpPr>
        <p:spPr>
          <a:xfrm>
            <a:off x="7301625" y="378872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AA6A"/>
                </a:solidFill>
              </a:rPr>
              <a:t>→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487563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5419" y="256949"/>
            <a:ext cx="4240061" cy="1478570"/>
          </a:xfrm>
        </p:spPr>
        <p:txBody>
          <a:bodyPr/>
          <a:lstStyle/>
          <a:p>
            <a:r>
              <a:rPr lang="en-US" dirty="0" smtClean="0"/>
              <a:t>Class Diagram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0"/>
            <a:ext cx="5265419" cy="6616094"/>
          </a:xfrm>
        </p:spPr>
      </p:pic>
    </p:spTree>
    <p:extLst>
      <p:ext uri="{BB962C8B-B14F-4D97-AF65-F5344CB8AC3E}">
        <p14:creationId xmlns:p14="http://schemas.microsoft.com/office/powerpoint/2010/main" val="2243094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Sequence Diagrams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sz="1800" dirty="0" smtClean="0"/>
              <a:t>User Interacts with Load Foods,</a:t>
            </a:r>
            <a:br>
              <a:rPr lang="en-US" sz="1800" dirty="0" smtClean="0"/>
            </a:br>
            <a:r>
              <a:rPr lang="en-US" sz="1800" dirty="0" smtClean="0"/>
              <a:t>add Foods</a:t>
            </a:r>
            <a:endParaRPr lang="en-US" sz="180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823" y="1208887"/>
            <a:ext cx="4887007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639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adds a recipe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964" y="2249488"/>
            <a:ext cx="7177802" cy="3840888"/>
          </a:xfrm>
        </p:spPr>
      </p:pic>
    </p:spTree>
    <p:extLst>
      <p:ext uri="{BB962C8B-B14F-4D97-AF65-F5344CB8AC3E}">
        <p14:creationId xmlns:p14="http://schemas.microsoft.com/office/powerpoint/2010/main" val="1171691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Factory Pattern Included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4965" y="2175596"/>
            <a:ext cx="8063763" cy="384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92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selects a date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405" y="2097088"/>
            <a:ext cx="8005541" cy="3675732"/>
          </a:xfrm>
        </p:spPr>
      </p:pic>
    </p:spTree>
    <p:extLst>
      <p:ext uri="{BB962C8B-B14F-4D97-AF65-F5344CB8AC3E}">
        <p14:creationId xmlns:p14="http://schemas.microsoft.com/office/powerpoint/2010/main" val="1144801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</a:t>
            </a:r>
            <a:r>
              <a:rPr lang="en-US" dirty="0"/>
              <a:t>adds a log entry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2" y="2097088"/>
            <a:ext cx="7510721" cy="367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346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41412" y="3235514"/>
            <a:ext cx="729449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Identifying the right classes from the problem description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Deciding responsibilities for each class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Avoiding too many or too few classes </a:t>
            </a:r>
          </a:p>
        </p:txBody>
      </p:sp>
    </p:spTree>
    <p:extLst>
      <p:ext uri="{BB962C8B-B14F-4D97-AF65-F5344CB8AC3E}">
        <p14:creationId xmlns:p14="http://schemas.microsoft.com/office/powerpoint/2010/main" val="2005519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 can Improve in Future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 UI </a:t>
            </a:r>
            <a:r>
              <a:rPr lang="en-US" dirty="0" smtClean="0"/>
              <a:t>design</a:t>
            </a:r>
          </a:p>
          <a:p>
            <a:r>
              <a:rPr lang="en-US" dirty="0"/>
              <a:t>Add </a:t>
            </a:r>
            <a:r>
              <a:rPr lang="en-US" dirty="0" smtClean="0"/>
              <a:t>charts/graphs</a:t>
            </a:r>
          </a:p>
          <a:p>
            <a:r>
              <a:rPr lang="en-US" dirty="0" smtClean="0"/>
              <a:t>Add more design patters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039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Thank you For YOUR Attention!!!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125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279</TotalTime>
  <Words>249</Words>
  <Application>Microsoft Office PowerPoint</Application>
  <PresentationFormat>Widescreen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Black</vt:lpstr>
      <vt:lpstr>Calibri</vt:lpstr>
      <vt:lpstr>Trebuchet MS</vt:lpstr>
      <vt:lpstr>Tw Cen MT</vt:lpstr>
      <vt:lpstr>Circuit</vt:lpstr>
      <vt:lpstr>SWEN 383 - Software Design Principles and Patterns Project: Wellness Manager Phase 1  Team members:  Ivaylo Tassev, Marko Krznar, Adrian Cervantes</vt:lpstr>
      <vt:lpstr>Project Overview</vt:lpstr>
      <vt:lpstr>Technology used and MVC architecture</vt:lpstr>
      <vt:lpstr>MVC architecture</vt:lpstr>
      <vt:lpstr>Class Diagram</vt:lpstr>
      <vt:lpstr>Sequence Diagrams  User Interacts with Load Foods, add Foods</vt:lpstr>
      <vt:lpstr>User adds a recipe</vt:lpstr>
      <vt:lpstr>Factory Pattern Included </vt:lpstr>
      <vt:lpstr>User selects a date</vt:lpstr>
      <vt:lpstr>User adds a log entry</vt:lpstr>
      <vt:lpstr>Challenges</vt:lpstr>
      <vt:lpstr>What we can Improve in Future </vt:lpstr>
      <vt:lpstr>Thank you For YOUR Attention!!!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ggdg dgdg</dc:creator>
  <cp:lastModifiedBy>ggdg dgdg</cp:lastModifiedBy>
  <cp:revision>25</cp:revision>
  <dcterms:created xsi:type="dcterms:W3CDTF">2026-03-31T12:13:56Z</dcterms:created>
  <dcterms:modified xsi:type="dcterms:W3CDTF">2026-04-01T08:43:37Z</dcterms:modified>
</cp:coreProperties>
</file>